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1" Type="http://schemas.openxmlformats.org/officeDocument/2006/relationships/notesSlide" Target="../notesSlides/notesSlide9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41.xml"/><Relationship Id="rId19" Type="http://schemas.openxmlformats.org/officeDocument/2006/relationships/tags" Target="../tags/tag58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tags" Target="../tags/tag4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0" Type="http://schemas.openxmlformats.org/officeDocument/2006/relationships/notesSlide" Target="../notesSlides/notesSlide10.xml"/><Relationship Id="rId2" Type="http://schemas.openxmlformats.org/officeDocument/2006/relationships/tags" Target="../tags/tag60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5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Shape 2"/>
          <p:cNvSpPr/>
          <p:nvPr/>
        </p:nvSpPr>
        <p:spPr>
          <a:xfrm>
            <a:off x="0" y="1371600"/>
            <a:ext cx="73152" cy="23774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" name="Shape 3"/>
          <p:cNvSpPr/>
          <p:nvPr/>
        </p:nvSpPr>
        <p:spPr>
          <a:xfrm>
            <a:off x="7772400" y="731520"/>
            <a:ext cx="1371600" cy="36576"/>
          </a:xfrm>
          <a:prstGeom prst="rect">
            <a:avLst/>
          </a:prstGeom>
          <a:solidFill>
            <a:srgbClr val="2563EB">
              <a:alpha val="5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7772400" y="914400"/>
            <a:ext cx="914400" cy="36576"/>
          </a:xfrm>
          <a:prstGeom prst="rect">
            <a:avLst/>
          </a:prstGeom>
          <a:solidFill>
            <a:srgbClr val="2563EB">
              <a:alpha val="5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31520" y="1371600"/>
            <a:ext cx="68580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基于Spring Boot的</a:t>
            </a:r>
            <a:endParaRPr lang="en-US" sz="3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健身房管理系统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毕业设计答辩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2286000" cy="22860"/>
          </a:xfrm>
          <a:prstGeom prst="rect">
            <a:avLst/>
          </a:prstGeom>
          <a:solidFill>
            <a:srgbClr val="93A3C0"/>
          </a:solidFill>
        </p:spPr>
      </p:sp>
      <p:sp>
        <p:nvSpPr>
          <p:cNvPr id="10" name="Text 8"/>
          <p:cNvSpPr/>
          <p:nvPr/>
        </p:nvSpPr>
        <p:spPr>
          <a:xfrm>
            <a:off x="731520" y="374904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3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学生：</a:t>
            </a:r>
            <a:r>
              <a:rPr lang="zh-CN" altLang="en-US" sz="1200" dirty="0">
                <a:solidFill>
                  <a:srgbClr val="93A3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刘昭涵</a:t>
            </a:r>
            <a:r>
              <a:rPr lang="en-US" sz="1200" dirty="0">
                <a:solidFill>
                  <a:srgbClr val="93A3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　　学号：220162704028　　指导教师：</a:t>
            </a:r>
            <a:r>
              <a:rPr lang="zh-CN" altLang="en-US" sz="1200" dirty="0">
                <a:solidFill>
                  <a:srgbClr val="93A3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梁浩鹏</a:t>
            </a:r>
            <a:r>
              <a:rPr lang="en-US" sz="1200" dirty="0">
                <a:solidFill>
                  <a:srgbClr val="93A3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　　专业：</a:t>
            </a:r>
            <a:r>
              <a:rPr lang="zh-CN" altLang="en-US" sz="1200" dirty="0">
                <a:solidFill>
                  <a:srgbClr val="93A3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答辩日期：2026年6月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Text 2"/>
          <p:cNvSpPr/>
          <p:nvPr/>
        </p:nvSpPr>
        <p:spPr>
          <a:xfrm>
            <a:off x="502920" y="27432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汇报大纲</a:t>
            </a:r>
            <a:endParaRPr lang="en-US" sz="26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02920" y="1097280"/>
            <a:ext cx="1920240" cy="1645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502920" y="1280160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640080" y="196596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选题背景与意义</a:t>
            </a:r>
            <a:endParaRPr lang="en-US" sz="1400" dirty="0"/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2606040" y="1097280"/>
            <a:ext cx="1920240" cy="1645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2606040" y="1280160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2743200" y="196596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可行性分析</a:t>
            </a:r>
            <a:endParaRPr lang="en-US" sz="140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4709160" y="1097280"/>
            <a:ext cx="1920240" cy="1645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4709160" y="1280160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4846320" y="196596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</a:t>
            </a:r>
            <a:endParaRPr lang="en-US" sz="1400" dirty="0"/>
          </a:p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6812280" y="1097280"/>
            <a:ext cx="1920240" cy="1645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6812280" y="1280160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320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6949440" y="196596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总体设计</a:t>
            </a:r>
            <a:endParaRPr lang="en-US" sz="140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502920" y="3017520"/>
            <a:ext cx="1920240" cy="1645920"/>
          </a:xfrm>
          <a:prstGeom prst="rect">
            <a:avLst/>
          </a:prstGeom>
          <a:solidFill>
            <a:srgbClr val="2563EB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502920" y="3200400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3200" dirty="0"/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640080" y="388620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详细设计与实现</a:t>
            </a:r>
            <a:endParaRPr lang="en-US" sz="1500" dirty="0"/>
          </a:p>
        </p:txBody>
      </p:sp>
      <p:sp>
        <p:nvSpPr>
          <p:cNvPr id="20" name="Shape 18"/>
          <p:cNvSpPr/>
          <p:nvPr>
            <p:custDataLst>
              <p:tags r:id="rId16"/>
            </p:custDataLst>
          </p:nvPr>
        </p:nvSpPr>
        <p:spPr>
          <a:xfrm>
            <a:off x="2606040" y="3017520"/>
            <a:ext cx="1920240" cy="1645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>
            <p:custDataLst>
              <p:tags r:id="rId17"/>
            </p:custDataLst>
          </p:nvPr>
        </p:nvSpPr>
        <p:spPr>
          <a:xfrm>
            <a:off x="2606040" y="3200400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3200" dirty="0"/>
          </a:p>
        </p:txBody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2743200" y="388620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系统测试</a:t>
            </a:r>
            <a:endParaRPr lang="en-US" sz="1400" dirty="0"/>
          </a:p>
        </p:txBody>
      </p:sp>
      <p:sp>
        <p:nvSpPr>
          <p:cNvPr id="23" name="Shape 21"/>
          <p:cNvSpPr/>
          <p:nvPr>
            <p:custDataLst>
              <p:tags r:id="rId19"/>
            </p:custDataLst>
          </p:nvPr>
        </p:nvSpPr>
        <p:spPr>
          <a:xfrm>
            <a:off x="4709160" y="3017520"/>
            <a:ext cx="1920240" cy="1645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4709160" y="3200400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3200" dirty="0"/>
          </a:p>
        </p:txBody>
      </p:sp>
      <p:sp>
        <p:nvSpPr>
          <p:cNvPr id="25" name="Text 23"/>
          <p:cNvSpPr/>
          <p:nvPr>
            <p:custDataLst>
              <p:tags r:id="rId21"/>
            </p:custDataLst>
          </p:nvPr>
        </p:nvSpPr>
        <p:spPr>
          <a:xfrm>
            <a:off x="4846320" y="388620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系统演示</a:t>
            </a:r>
            <a:endParaRPr lang="en-US" sz="1400" dirty="0"/>
          </a:p>
        </p:txBody>
      </p:sp>
      <p:sp>
        <p:nvSpPr>
          <p:cNvPr id="26" name="Shape 24"/>
          <p:cNvSpPr/>
          <p:nvPr>
            <p:custDataLst>
              <p:tags r:id="rId22"/>
            </p:custDataLst>
          </p:nvPr>
        </p:nvSpPr>
        <p:spPr>
          <a:xfrm>
            <a:off x="6812280" y="3017520"/>
            <a:ext cx="1920240" cy="1645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>
            <p:custDataLst>
              <p:tags r:id="rId23"/>
            </p:custDataLst>
          </p:nvPr>
        </p:nvSpPr>
        <p:spPr>
          <a:xfrm>
            <a:off x="6812280" y="3200400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3200" dirty="0"/>
          </a:p>
        </p:txBody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6949440" y="388620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选题背景与意义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18288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选题背景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109728" cy="10972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731520" y="1508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全民健身意识提升，健身房数量快速增长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109728" cy="10972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731520" y="19659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传统健身房管理依赖人工，效率低下、易出错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514600"/>
            <a:ext cx="109728" cy="10972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731520" y="24231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数字化转型成为健身行业发展的必然趋势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选题意义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1600200"/>
            <a:ext cx="109728" cy="109728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16" name="Text 14"/>
          <p:cNvSpPr/>
          <p:nvPr/>
        </p:nvSpPr>
        <p:spPr>
          <a:xfrm>
            <a:off x="5074920" y="15087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提升健身房管理效率，降低人工运营成本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057400"/>
            <a:ext cx="109728" cy="109728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18" name="Text 16"/>
          <p:cNvSpPr/>
          <p:nvPr/>
        </p:nvSpPr>
        <p:spPr>
          <a:xfrm>
            <a:off x="5074920" y="19659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为会员提供便捷的自助服务与智能化健身体验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514600"/>
            <a:ext cx="109728" cy="109728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20" name="Text 18"/>
          <p:cNvSpPr/>
          <p:nvPr/>
        </p:nvSpPr>
        <p:spPr>
          <a:xfrm>
            <a:off x="5074920" y="24231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引入AI技术，实现个性化健身指导与计划生成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1188720"/>
            <a:ext cx="13716" cy="146304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22" name="Shape 20"/>
          <p:cNvSpPr/>
          <p:nvPr/>
        </p:nvSpPr>
        <p:spPr>
          <a:xfrm>
            <a:off x="502920" y="3108960"/>
            <a:ext cx="8138160" cy="1645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" y="32004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行业背景数据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36118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5,000亿+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5800" y="40233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中国健身市场规模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36118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7,000万+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697480" y="40233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健身房会员人数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36118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10万+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709160" y="40233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全国健身房数量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20840" y="36118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30%+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720840" y="40233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行业年增长率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系统核心技术栈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18288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1965960" cy="3200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02920" y="109728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后端框架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1965960" cy="38404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00200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 2.2.2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1965960" cy="38404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103120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MyBatis-Plus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606040"/>
            <a:ext cx="1965960" cy="38404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606040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8.0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1097280"/>
            <a:ext cx="1965960" cy="32004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16" name="Text 14"/>
          <p:cNvSpPr/>
          <p:nvPr/>
        </p:nvSpPr>
        <p:spPr>
          <a:xfrm>
            <a:off x="2651760" y="109728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前端框架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51760" y="1600200"/>
            <a:ext cx="1965960" cy="38404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51760" y="1600200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Vue.js 2.6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51760" y="2103120"/>
            <a:ext cx="1965960" cy="38404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51760" y="2103120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Element UI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51760" y="2606040"/>
            <a:ext cx="1965960" cy="38404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51760" y="2606040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Axios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1097280"/>
            <a:ext cx="1965960" cy="3200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4" name="Text 22"/>
          <p:cNvSpPr/>
          <p:nvPr/>
        </p:nvSpPr>
        <p:spPr>
          <a:xfrm>
            <a:off x="4800600" y="109728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</a:t>
            </a: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相关</a:t>
            </a: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600200"/>
            <a:ext cx="1965960" cy="38404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1600200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智谱AI GLM-4-Flash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2103120"/>
            <a:ext cx="1965960" cy="38404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00600" y="2103120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知识库关键词匹配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606040"/>
            <a:ext cx="1965960" cy="38404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2606040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本地知识库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49440" y="1097280"/>
            <a:ext cx="1965960" cy="320040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32" name="Text 30"/>
          <p:cNvSpPr/>
          <p:nvPr/>
        </p:nvSpPr>
        <p:spPr>
          <a:xfrm>
            <a:off x="6949440" y="109728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其他服务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1600200"/>
            <a:ext cx="1965960" cy="38404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49440" y="1600200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高德地图 JS SDK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49440" y="2103120"/>
            <a:ext cx="1965960" cy="38404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49440" y="2103120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Token 拦截认证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49440" y="2606040"/>
            <a:ext cx="1965960" cy="38404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49440" y="2606040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B/S 前后端分离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" y="3383280"/>
            <a:ext cx="8138160" cy="13716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" y="34747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系统架构：B/S 前后端分离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5800" y="3886200"/>
            <a:ext cx="914400" cy="2560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2" name="Text 40"/>
          <p:cNvSpPr/>
          <p:nvPr/>
        </p:nvSpPr>
        <p:spPr>
          <a:xfrm>
            <a:off x="685800" y="3886200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表现层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737360" y="388620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Vue.js + Element UI 构建用户界面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5800" y="4178808"/>
            <a:ext cx="914400" cy="256032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45" name="Text 43"/>
          <p:cNvSpPr/>
          <p:nvPr/>
        </p:nvSpPr>
        <p:spPr>
          <a:xfrm>
            <a:off x="685800" y="4178808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业务层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737360" y="417880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 RESTful API + Token 认证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85800" y="4471416"/>
            <a:ext cx="914400" cy="25603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8" name="Text 46"/>
          <p:cNvSpPr/>
          <p:nvPr/>
        </p:nvSpPr>
        <p:spPr>
          <a:xfrm>
            <a:off x="685800" y="4471416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数据层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737360" y="44714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8.0 + MyBatis-Plus ORM 框架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可行性分析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18288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502920" y="1097280"/>
            <a:ext cx="2606040" cy="32918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685800" y="1280160"/>
            <a:ext cx="411480" cy="41148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685800" y="12801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</a:t>
            </a:r>
            <a:endParaRPr lang="en-US" sz="160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1234440" y="134874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技术可行性</a:t>
            </a:r>
            <a:endParaRPr lang="en-US" sz="1400" dirty="0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685800" y="1737360"/>
            <a:ext cx="2240280" cy="2514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Boot、Vue.js 均为业界成熟框架，社区活跃，文档丰富。MySQL 提供稳定可靠的数据存储方案。前后端分离架构技术难度适中，可在规定时间内完成开发。</a:t>
            </a:r>
            <a:endParaRPr lang="en-US" sz="1100" dirty="0"/>
          </a:p>
        </p:txBody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3291840" y="1097280"/>
            <a:ext cx="2606040" cy="32918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3474720" y="1280160"/>
            <a:ext cx="411480" cy="411480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3474720" y="12801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经</a:t>
            </a:r>
            <a:endParaRPr lang="en-US" sz="1600" dirty="0"/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4023360" y="134874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经济可行性</a:t>
            </a:r>
            <a:endParaRPr lang="en-US" sz="1400" dirty="0"/>
          </a:p>
        </p:txBody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3474720" y="1737360"/>
            <a:ext cx="2240280" cy="2514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开发工具均为开源免费，无需额外软件授权费用。系统上线后可替代传统纸质管理，降低人力成本，提升运营效率，投资回报周期短。</a:t>
            </a:r>
            <a:endParaRPr lang="en-US" sz="1100" dirty="0"/>
          </a:p>
        </p:txBody>
      </p:sp>
      <p:sp>
        <p:nvSpPr>
          <p:cNvPr id="17" name="Shape 15"/>
          <p:cNvSpPr/>
          <p:nvPr>
            <p:custDataLst>
              <p:tags r:id="rId11"/>
            </p:custDataLst>
          </p:nvPr>
        </p:nvSpPr>
        <p:spPr>
          <a:xfrm>
            <a:off x="6080760" y="1097280"/>
            <a:ext cx="2606040" cy="32918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2"/>
            </p:custDataLst>
          </p:nvPr>
        </p:nvSpPr>
        <p:spPr>
          <a:xfrm>
            <a:off x="6263640" y="1280160"/>
            <a:ext cx="411480" cy="41148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9" name="Text 17"/>
          <p:cNvSpPr/>
          <p:nvPr>
            <p:custDataLst>
              <p:tags r:id="rId13"/>
            </p:custDataLst>
          </p:nvPr>
        </p:nvSpPr>
        <p:spPr>
          <a:xfrm>
            <a:off x="6263640" y="12801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操</a:t>
            </a:r>
            <a:endParaRPr lang="en-US" sz="1600" dirty="0"/>
          </a:p>
        </p:txBody>
      </p:sp>
      <p:sp>
        <p:nvSpPr>
          <p:cNvPr id="20" name="Text 18"/>
          <p:cNvSpPr/>
          <p:nvPr>
            <p:custDataLst>
              <p:tags r:id="rId14"/>
            </p:custDataLst>
          </p:nvPr>
        </p:nvSpPr>
        <p:spPr>
          <a:xfrm>
            <a:off x="6812280" y="134874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操作可行性</a:t>
            </a:r>
            <a:endParaRPr lang="en-US" sz="1400" dirty="0"/>
          </a:p>
        </p:txBody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6263640" y="1737360"/>
            <a:ext cx="2240280" cy="2514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B/S 架构免客户端安装，浏览器即可访问。界面基于 Element UI 设计规范，操作直观。三角色权限分离，各类用户只需关注自身相关功能模块。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617720"/>
            <a:ext cx="8138160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685800" y="46177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结论：在技术、经济、操作三个维度均具备可行性，系统开发风险可控，具备实际应用价值。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需求分析——系统角色设计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18288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2606040" cy="36576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97280"/>
            <a:ext cx="2606040" cy="5486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Shape 7"/>
          <p:cNvSpPr/>
          <p:nvPr/>
        </p:nvSpPr>
        <p:spPr>
          <a:xfrm>
            <a:off x="1435608" y="1371600"/>
            <a:ext cx="731520" cy="7315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0" name="Text 8"/>
          <p:cNvSpPr/>
          <p:nvPr/>
        </p:nvSpPr>
        <p:spPr>
          <a:xfrm>
            <a:off x="1435608" y="137160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2148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系统最高权限，负责全局运营数据维护与管理。可管理会员、员工、教练、健身项目、器材、活动等全部数据。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703320"/>
            <a:ext cx="91440" cy="9144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4" name="Text 12"/>
          <p:cNvSpPr/>
          <p:nvPr/>
        </p:nvSpPr>
        <p:spPr>
          <a:xfrm>
            <a:off x="1005840" y="36301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全局数据管理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4023360"/>
            <a:ext cx="91440" cy="9144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6" name="Text 14"/>
          <p:cNvSpPr/>
          <p:nvPr/>
        </p:nvSpPr>
        <p:spPr>
          <a:xfrm>
            <a:off x="1005840" y="395020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员工聘用/解聘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4343400"/>
            <a:ext cx="91440" cy="9144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8" name="Text 16"/>
          <p:cNvSpPr/>
          <p:nvPr/>
        </p:nvSpPr>
        <p:spPr>
          <a:xfrm>
            <a:off x="1005840" y="427024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统计数据分析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1097280"/>
            <a:ext cx="2606040" cy="36576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1097280"/>
            <a:ext cx="2606040" cy="54864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21" name="Shape 19"/>
          <p:cNvSpPr/>
          <p:nvPr/>
        </p:nvSpPr>
        <p:spPr>
          <a:xfrm>
            <a:off x="4224528" y="1371600"/>
            <a:ext cx="731520" cy="731520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22" name="Text 20"/>
          <p:cNvSpPr/>
          <p:nvPr/>
        </p:nvSpPr>
        <p:spPr>
          <a:xfrm>
            <a:off x="4224528" y="137160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429000" y="224028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520440" y="2606040"/>
            <a:ext cx="2148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核心用户群体，可自助办理会员卡、浏览教练与课程、记录健身活动、使用AI教练、生成健身计划、参与心得社区。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66160" y="3703320"/>
            <a:ext cx="91440" cy="91440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26" name="Text 24"/>
          <p:cNvSpPr/>
          <p:nvPr/>
        </p:nvSpPr>
        <p:spPr>
          <a:xfrm>
            <a:off x="3794760" y="36301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自助办卡申请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66160" y="4023360"/>
            <a:ext cx="91440" cy="91440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28" name="Text 26"/>
          <p:cNvSpPr/>
          <p:nvPr/>
        </p:nvSpPr>
        <p:spPr>
          <a:xfrm>
            <a:off x="3794760" y="395020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浏览课程与教练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66160" y="4343400"/>
            <a:ext cx="91440" cy="91440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30" name="Text 28"/>
          <p:cNvSpPr/>
          <p:nvPr/>
        </p:nvSpPr>
        <p:spPr>
          <a:xfrm>
            <a:off x="3794760" y="427024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AI健身指导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1097280"/>
            <a:ext cx="2606040" cy="36576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1097280"/>
            <a:ext cx="260604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3" name="Shape 31"/>
          <p:cNvSpPr/>
          <p:nvPr/>
        </p:nvSpPr>
        <p:spPr>
          <a:xfrm>
            <a:off x="7013448" y="1371600"/>
            <a:ext cx="731520" cy="73152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4" name="Text 32"/>
          <p:cNvSpPr/>
          <p:nvPr/>
        </p:nvSpPr>
        <p:spPr>
          <a:xfrm>
            <a:off x="7013448" y="137160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217920" y="224028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员工（教练）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309360" y="2606040"/>
            <a:ext cx="2148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承担教练职责，负责会员卡审核、指导项目管理、健身活动协助、AI知识库维护等核心业务操作。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55080" y="3703320"/>
            <a:ext cx="91440" cy="9144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8" name="Text 36"/>
          <p:cNvSpPr/>
          <p:nvPr/>
        </p:nvSpPr>
        <p:spPr>
          <a:xfrm>
            <a:off x="6583680" y="36301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会员卡审核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4023360"/>
            <a:ext cx="91440" cy="9144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0" name="Text 38"/>
          <p:cNvSpPr/>
          <p:nvPr/>
        </p:nvSpPr>
        <p:spPr>
          <a:xfrm>
            <a:off x="6583680" y="395020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指导项目管理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55080" y="4343400"/>
            <a:ext cx="91440" cy="9144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6583680" y="427024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AI知识库维护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总体设计——系统架构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18288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2563EB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26187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表现层 (Frontend)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517904"/>
            <a:ext cx="7863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Vue.js + Element UI + Axios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1847088"/>
            <a:ext cx="548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103120"/>
            <a:ext cx="7589520" cy="658368"/>
          </a:xfrm>
          <a:prstGeom prst="rect">
            <a:avLst/>
          </a:prstGeom>
          <a:solidFill>
            <a:srgbClr val="60A5FA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217627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网关层 (Gateway)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432304"/>
            <a:ext cx="7223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Nginx 反向代理 + 静态资源服务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2761488"/>
            <a:ext cx="548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3017520"/>
            <a:ext cx="6949440" cy="658368"/>
          </a:xfrm>
          <a:prstGeom prst="rect">
            <a:avLst/>
          </a:prstGeom>
          <a:solidFill>
            <a:srgbClr val="10B981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80160" y="309067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业务层 (Backend)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346704"/>
            <a:ext cx="6583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Controller → Service → Dao (MyBatis-Plus)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3675888"/>
            <a:ext cx="548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17320" y="3931920"/>
            <a:ext cx="6309360" cy="658368"/>
          </a:xfrm>
          <a:prstGeom prst="rect">
            <a:avLst/>
          </a:prstGeom>
          <a:solidFill>
            <a:srgbClr val="6366F1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00200" y="400507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数据层 (Database)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4261104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MySQL 8.0 关系型数据库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1097280"/>
            <a:ext cx="1645920" cy="35661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1417320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拦截器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214884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2377440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菜单配置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RBAC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310896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3337560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GLM-4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Flash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0" y="406908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LBS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0" y="4297680"/>
            <a:ext cx="1645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高德地图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SDK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总体设计——功能模块划分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18288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237744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97280"/>
            <a:ext cx="54864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685800" y="118872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用户管理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 / 员工 / 管理员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63240" y="1097280"/>
            <a:ext cx="237744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1097280"/>
            <a:ext cx="54864" cy="86868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13" name="Text 11"/>
          <p:cNvSpPr/>
          <p:nvPr/>
        </p:nvSpPr>
        <p:spPr>
          <a:xfrm>
            <a:off x="3246120" y="118872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业务管理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15544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会员卡 / 教练 / 健身项目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23560" y="1097280"/>
            <a:ext cx="237744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1097280"/>
            <a:ext cx="54864" cy="8686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806440" y="118872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06440" y="15544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器材 / 活动 / 指导项目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606040"/>
            <a:ext cx="237744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606040"/>
            <a:ext cx="54864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1" name="Text 19"/>
          <p:cNvSpPr/>
          <p:nvPr/>
        </p:nvSpPr>
        <p:spPr>
          <a:xfrm>
            <a:off x="685800" y="26974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智能模块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063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AI教练问答 / AI健身计划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063240" y="2606040"/>
            <a:ext cx="237744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063240" y="2606040"/>
            <a:ext cx="54864" cy="86868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25" name="Text 23"/>
          <p:cNvSpPr/>
          <p:nvPr/>
        </p:nvSpPr>
        <p:spPr>
          <a:xfrm>
            <a:off x="3246120" y="26974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LBS 位置服务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46120" y="3063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附近健身房地图导航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23560" y="2606040"/>
            <a:ext cx="237744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23560" y="2606040"/>
            <a:ext cx="54864" cy="8686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9" name="Text 27"/>
          <p:cNvSpPr/>
          <p:nvPr/>
        </p:nvSpPr>
        <p:spPr>
          <a:xfrm>
            <a:off x="5806440" y="26974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社交互动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06440" y="3063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健身心得社区 / 点赞收藏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4114800"/>
            <a:ext cx="237744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4114800"/>
            <a:ext cx="54864" cy="868680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33" name="Text 31"/>
          <p:cNvSpPr/>
          <p:nvPr/>
        </p:nvSpPr>
        <p:spPr>
          <a:xfrm>
            <a:off x="685800" y="42062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系统管理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" y="45720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Token认证 / 菜单权限 / 日志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063240" y="4114800"/>
            <a:ext cx="237744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063240" y="4114800"/>
            <a:ext cx="54864" cy="86868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7" name="Text 35"/>
          <p:cNvSpPr/>
          <p:nvPr/>
        </p:nvSpPr>
        <p:spPr>
          <a:xfrm>
            <a:off x="3246120" y="42062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数据统计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246120" y="45720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首页仪表盘 / 数据概览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详细设计——登录注册与权限控制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18288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认证与权限流程</a:t>
            </a:r>
            <a:endParaRPr lang="en-US" sz="15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02920" y="1554480"/>
            <a:ext cx="292608" cy="29260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502920" y="155448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960120" y="1490472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用户通过登录页选择角色，输入账号密码</a:t>
            </a:r>
            <a:endParaRPr lang="en-US" sz="12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640080" y="1847088"/>
            <a:ext cx="18288" cy="301752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502920" y="2148840"/>
            <a:ext cx="292608" cy="29260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502920" y="214884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960120" y="2084832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 AuthorizationInterceptor 拦截请求</a:t>
            </a:r>
            <a:endParaRPr lang="en-US" sz="1200" dirty="0"/>
          </a:p>
        </p:txBody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640080" y="2441448"/>
            <a:ext cx="18288" cy="301752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502920" y="2743200"/>
            <a:ext cx="292608" cy="29260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502920" y="274320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960120" y="2679192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 Token 有效性，解析用户身份信息</a:t>
            </a:r>
            <a:endParaRPr lang="en-US" sz="1200" dirty="0"/>
          </a:p>
        </p:txBody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640080" y="3035808"/>
            <a:ext cx="18288" cy="301752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502920" y="3337560"/>
            <a:ext cx="292608" cy="29260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502920" y="333756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960120" y="3273552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 userId / role / tableName 写入 Session</a:t>
            </a:r>
            <a:endParaRPr lang="en-US" sz="1200" dirty="0"/>
          </a:p>
        </p:txBody>
      </p:sp>
      <p:sp>
        <p:nvSpPr>
          <p:cNvPr id="23" name="Shape 21"/>
          <p:cNvSpPr/>
          <p:nvPr>
            <p:custDataLst>
              <p:tags r:id="rId16"/>
            </p:custDataLst>
          </p:nvPr>
        </p:nvSpPr>
        <p:spPr>
          <a:xfrm>
            <a:off x="640080" y="3630168"/>
            <a:ext cx="18288" cy="301752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24" name="Shape 22"/>
          <p:cNvSpPr/>
          <p:nvPr>
            <p:custDataLst>
              <p:tags r:id="rId17"/>
            </p:custDataLst>
          </p:nvPr>
        </p:nvSpPr>
        <p:spPr>
          <a:xfrm>
            <a:off x="502920" y="3931920"/>
            <a:ext cx="292608" cy="29260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502920" y="393192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960120" y="3867912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前端根据 role 加载对应 menu.js 菜单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10515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技术特点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0" y="1554480"/>
            <a:ext cx="3840480" cy="6400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0" y="1554480"/>
            <a:ext cx="45720" cy="64008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30" name="Text 28"/>
          <p:cNvSpPr/>
          <p:nvPr/>
        </p:nvSpPr>
        <p:spPr>
          <a:xfrm>
            <a:off x="5257800" y="157276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自定义Token拦截器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184708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无需依赖第三方权限框架，轻量级实现登录态校验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2331720"/>
            <a:ext cx="3840480" cy="6400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0" y="2331720"/>
            <a:ext cx="45720" cy="64008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34" name="Text 32"/>
          <p:cNvSpPr/>
          <p:nvPr/>
        </p:nvSpPr>
        <p:spPr>
          <a:xfrm>
            <a:off x="5257800" y="235000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三角色独立菜单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262432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前端menu.js为管理员、会员、员工各配置独立菜单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3108960"/>
            <a:ext cx="3840480" cy="6400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0" y="3108960"/>
            <a:ext cx="45720" cy="64008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38" name="Text 36"/>
          <p:cNvSpPr/>
          <p:nvPr/>
        </p:nvSpPr>
        <p:spPr>
          <a:xfrm>
            <a:off x="5257800" y="312724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管理员预设账号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57800" y="340156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admin/123456，会员和员工支持自主注册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0" y="3886200"/>
            <a:ext cx="3840480" cy="6400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29200" y="3886200"/>
            <a:ext cx="45720" cy="64008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42" name="Text 40"/>
          <p:cNvSpPr/>
          <p:nvPr/>
        </p:nvSpPr>
        <p:spPr>
          <a:xfrm>
            <a:off x="5257800" y="390448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Session 存储会话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57800" y="417880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登录后userId/role/tableName存入Session上下文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详细设计——核心业务模块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18288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502920" y="1051560"/>
            <a:ext cx="8138160" cy="11430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502920" y="1051560"/>
            <a:ext cx="54864" cy="1143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777240" y="11247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会员卡管理</a:t>
            </a:r>
            <a:endParaRPr lang="en-US" sz="1400" dirty="0"/>
          </a:p>
        </p:txBody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3200400" y="1143000"/>
            <a:ext cx="5212080" cy="256032"/>
          </a:xfrm>
          <a:prstGeom prst="rect">
            <a:avLst/>
          </a:prstGeom>
          <a:solidFill>
            <a:srgbClr val="2563EB">
              <a:alpha val="15000"/>
            </a:srgbClr>
          </a:solidFill>
        </p:spPr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3291840" y="114300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流程：会员提交申请 → 员工审核 → 通过/驳回</a:t>
            </a:r>
            <a:endParaRPr lang="en-US" sz="1050" dirty="0"/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777240" y="155448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会员填写个人信息申请办卡，员工审核申请并填写体测数据，支持通过或驳回操作，审核结果实时反馈给会员。</a:t>
            </a:r>
            <a:endParaRPr lang="en-US" sz="1100" dirty="0"/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502920" y="2377440"/>
            <a:ext cx="8138160" cy="11430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8"/>
            </p:custDataLst>
          </p:nvPr>
        </p:nvSpPr>
        <p:spPr>
          <a:xfrm>
            <a:off x="502920" y="2377440"/>
            <a:ext cx="54864" cy="114300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777240" y="24505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教练聘用与解聘</a:t>
            </a:r>
            <a:endParaRPr lang="en-US" sz="1400" dirty="0"/>
          </a:p>
        </p:txBody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3200400" y="2468880"/>
            <a:ext cx="5212080" cy="256032"/>
          </a:xfrm>
          <a:prstGeom prst="rect">
            <a:avLst/>
          </a:prstGeom>
          <a:solidFill>
            <a:srgbClr val="60A5FA">
              <a:alpha val="15000"/>
            </a:srgbClr>
          </a:solidFill>
        </p:spPr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3291840" y="246888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A5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流程：员工招聘入职 → 同步教练信息表</a:t>
            </a:r>
            <a:endParaRPr lang="en-US" sz="105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777240" y="28803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管理员在员工管理中添加新员工，系统自动同步到教练信息表；解聘时删除员工信息同时清除对应教练记录。</a:t>
            </a:r>
            <a:endParaRPr lang="en-US" sz="1100" dirty="0"/>
          </a:p>
        </p:txBody>
      </p:sp>
      <p:sp>
        <p:nvSpPr>
          <p:cNvPr id="19" name="Shape 17"/>
          <p:cNvSpPr/>
          <p:nvPr>
            <p:custDataLst>
              <p:tags r:id="rId13"/>
            </p:custDataLst>
          </p:nvPr>
        </p:nvSpPr>
        <p:spPr>
          <a:xfrm>
            <a:off x="502920" y="3703320"/>
            <a:ext cx="8138160" cy="11430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>
            <p:custDataLst>
              <p:tags r:id="rId14"/>
            </p:custDataLst>
          </p:nvPr>
        </p:nvSpPr>
        <p:spPr>
          <a:xfrm>
            <a:off x="502920" y="3703320"/>
            <a:ext cx="54864" cy="1143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777240" y="37764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健身项目管理</a:t>
            </a:r>
            <a:endParaRPr lang="en-US" sz="1400" dirty="0"/>
          </a:p>
        </p:txBody>
      </p:sp>
      <p:sp>
        <p:nvSpPr>
          <p:cNvPr id="22" name="Shape 20"/>
          <p:cNvSpPr/>
          <p:nvPr>
            <p:custDataLst>
              <p:tags r:id="rId16"/>
            </p:custDataLst>
          </p:nvPr>
        </p:nvSpPr>
        <p:spPr>
          <a:xfrm>
            <a:off x="3200400" y="3794760"/>
            <a:ext cx="5212080" cy="256032"/>
          </a:xfrm>
          <a:prstGeom prst="rect">
            <a:avLst/>
          </a:prstGeom>
          <a:solidFill>
            <a:srgbClr val="10B981">
              <a:alpha val="15000"/>
            </a:srgbClr>
          </a:solidFill>
        </p:spPr>
      </p:sp>
      <p:sp>
        <p:nvSpPr>
          <p:cNvPr id="23" name="Text 21"/>
          <p:cNvSpPr/>
          <p:nvPr>
            <p:custDataLst>
              <p:tags r:id="rId17"/>
            </p:custDataLst>
          </p:nvPr>
        </p:nvSpPr>
        <p:spPr>
          <a:xfrm>
            <a:off x="3291840" y="379476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流程：项目维护 → 指导项目分配</a:t>
            </a:r>
            <a:endParaRPr lang="en-US" sz="1050" dirty="0"/>
          </a:p>
        </p:txBody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777240" y="420624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员工维护健身项目的价格、课时、视频等数据；员工与会员建立指导关系后，系统记录指导项目安排情况。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智能教练问答模块 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18288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777240" cy="2560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02920" y="868680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核心亮点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3931920" cy="53035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91640"/>
            <a:ext cx="45720" cy="53035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Text 10"/>
          <p:cNvSpPr/>
          <p:nvPr/>
        </p:nvSpPr>
        <p:spPr>
          <a:xfrm>
            <a:off x="713232" y="1709928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知识库引擎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192024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本地存储健身领域问答数据，包含问题、答案、分类、关键词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31720"/>
            <a:ext cx="3931920" cy="53035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331720"/>
            <a:ext cx="45720" cy="53035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6" name="Text 14"/>
          <p:cNvSpPr/>
          <p:nvPr/>
        </p:nvSpPr>
        <p:spPr>
          <a:xfrm>
            <a:off x="713232" y="2350008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匹配算法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256032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基于关键词分词匹配，从知识库中检索最相关答案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971800"/>
            <a:ext cx="3931920" cy="53035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971800"/>
            <a:ext cx="45720" cy="53035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Text 18"/>
          <p:cNvSpPr/>
          <p:nvPr/>
        </p:nvSpPr>
        <p:spPr>
          <a:xfrm>
            <a:off x="713232" y="2990088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聊天界面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320040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模拟即时通讯的对话式交互体验，支持连续问答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覆盖话题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46320" y="1691640"/>
            <a:ext cx="1965960" cy="502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83480" y="1801368"/>
            <a:ext cx="274320" cy="274320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25" name="Text 23"/>
          <p:cNvSpPr/>
          <p:nvPr/>
        </p:nvSpPr>
        <p:spPr>
          <a:xfrm>
            <a:off x="4983480" y="180136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4960" y="169164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健身入门指导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95160" y="1691640"/>
            <a:ext cx="1965960" cy="502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32320" y="1801368"/>
            <a:ext cx="274320" cy="274320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29" name="Text 27"/>
          <p:cNvSpPr/>
          <p:nvPr/>
        </p:nvSpPr>
        <p:spPr>
          <a:xfrm>
            <a:off x="7132320" y="180136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69164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饮食营养建议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2331720"/>
            <a:ext cx="1965960" cy="502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83480" y="2441448"/>
            <a:ext cx="274320" cy="274320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33" name="Text 31"/>
          <p:cNvSpPr/>
          <p:nvPr/>
        </p:nvSpPr>
        <p:spPr>
          <a:xfrm>
            <a:off x="4983480" y="244144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23317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训练动作教学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95160" y="2331720"/>
            <a:ext cx="1965960" cy="502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32320" y="2441448"/>
            <a:ext cx="274320" cy="274320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37" name="Text 35"/>
          <p:cNvSpPr/>
          <p:nvPr/>
        </p:nvSpPr>
        <p:spPr>
          <a:xfrm>
            <a:off x="7132320" y="244144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43800" y="23317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器械使用方法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2971800"/>
            <a:ext cx="1965960" cy="502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983480" y="3081528"/>
            <a:ext cx="274320" cy="274320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41" name="Text 39"/>
          <p:cNvSpPr/>
          <p:nvPr/>
        </p:nvSpPr>
        <p:spPr>
          <a:xfrm>
            <a:off x="4983480" y="3081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94960" y="297180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训练计划制定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95160" y="2971800"/>
            <a:ext cx="1965960" cy="502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132320" y="3081528"/>
            <a:ext cx="274320" cy="274320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45" name="Text 43"/>
          <p:cNvSpPr/>
          <p:nvPr/>
        </p:nvSpPr>
        <p:spPr>
          <a:xfrm>
            <a:off x="7132320" y="3081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543800" y="297180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伤病预防恢复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02920" y="3749040"/>
            <a:ext cx="8138160" cy="502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85800" y="3749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✦ 员工可通过后台管理AI知识库，新增、修改、删除问答条目，持续提升智能问答的准确性和覆盖面。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智谱AI 健身计划生成 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18288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777240" cy="2560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02920" y="868680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核心亮点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生成流程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292608" cy="29260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502920" y="169164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67335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输入身体数据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87452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身高、体重、自动计算BMI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" y="1984248"/>
            <a:ext cx="22860" cy="27432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15" name="Shape 13"/>
          <p:cNvSpPr/>
          <p:nvPr/>
        </p:nvSpPr>
        <p:spPr>
          <a:xfrm>
            <a:off x="502920" y="2258568"/>
            <a:ext cx="292608" cy="29260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6" name="Text 14"/>
          <p:cNvSpPr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24028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设定健身目标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441448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减脂 / 增肌 / 塑形 / 康复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" y="2551176"/>
            <a:ext cx="22860" cy="27432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20" name="Shape 18"/>
          <p:cNvSpPr/>
          <p:nvPr/>
        </p:nvSpPr>
        <p:spPr>
          <a:xfrm>
            <a:off x="502920" y="2825496"/>
            <a:ext cx="292608" cy="29260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1" name="Text 19"/>
          <p:cNvSpPr/>
          <p:nvPr/>
        </p:nvSpPr>
        <p:spPr>
          <a:xfrm>
            <a:off x="502920" y="2825496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280720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选择训练参数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008376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训练等级 + 每周训练天数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" y="3118104"/>
            <a:ext cx="22860" cy="27432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25" name="Shape 23"/>
          <p:cNvSpPr/>
          <p:nvPr/>
        </p:nvSpPr>
        <p:spPr>
          <a:xfrm>
            <a:off x="502920" y="3392424"/>
            <a:ext cx="292608" cy="29260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6" name="Text 24"/>
          <p:cNvSpPr/>
          <p:nvPr/>
        </p:nvSpPr>
        <p:spPr>
          <a:xfrm>
            <a:off x="502920" y="3392424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374136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调用AI生成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575304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GLM-4-Flash 生成7天计划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" y="3685032"/>
            <a:ext cx="22860" cy="27432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30" name="Shape 28"/>
          <p:cNvSpPr/>
          <p:nvPr/>
        </p:nvSpPr>
        <p:spPr>
          <a:xfrm>
            <a:off x="502920" y="3959352"/>
            <a:ext cx="292608" cy="29260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31" name="Text 29"/>
          <p:cNvSpPr/>
          <p:nvPr/>
        </p:nvSpPr>
        <p:spPr>
          <a:xfrm>
            <a:off x="502920" y="395935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3941064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导出保存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4142232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 CSV / TXT 格式下载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9120" y="11887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技术细节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89120" y="1691640"/>
            <a:ext cx="4297680" cy="3657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89120" y="1691640"/>
            <a:ext cx="45720" cy="36576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37" name="Text 35"/>
          <p:cNvSpPr/>
          <p:nvPr/>
        </p:nvSpPr>
        <p:spPr>
          <a:xfrm>
            <a:off x="4617720" y="16916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 接口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06440" y="16916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调用智谱AI GLM-4-Flash 大模型API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89120" y="2148840"/>
            <a:ext cx="4297680" cy="3657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89120" y="2148840"/>
            <a:ext cx="45720" cy="36576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41" name="Text 39"/>
          <p:cNvSpPr/>
          <p:nvPr/>
        </p:nvSpPr>
        <p:spPr>
          <a:xfrm>
            <a:off x="4617720" y="21488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Prompt 设计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06440" y="21488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结合用户身体数据 + 目标构建结构化提示词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89120" y="2606040"/>
            <a:ext cx="4297680" cy="3657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389120" y="2606040"/>
            <a:ext cx="45720" cy="36576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45" name="Text 43"/>
          <p:cNvSpPr/>
          <p:nvPr/>
        </p:nvSpPr>
        <p:spPr>
          <a:xfrm>
            <a:off x="4617720" y="26060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计划结构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806440" y="26060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7天详细训练计划，每天包含多组动作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389120" y="3063240"/>
            <a:ext cx="4297680" cy="3657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389120" y="3063240"/>
            <a:ext cx="45720" cy="36576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49" name="Text 47"/>
          <p:cNvSpPr/>
          <p:nvPr/>
        </p:nvSpPr>
        <p:spPr>
          <a:xfrm>
            <a:off x="4617720" y="30632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导出格式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806440" y="30632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支持CSV（表格）和TXT（文本）两种格式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389120" y="3520440"/>
            <a:ext cx="4297680" cy="3657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389120" y="3520440"/>
            <a:ext cx="45720" cy="36576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53" name="Text 51"/>
          <p:cNvSpPr/>
          <p:nvPr/>
        </p:nvSpPr>
        <p:spPr>
          <a:xfrm>
            <a:off x="4617720" y="35204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适用场景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806440" y="3520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减脂、增肌、塑形、康复四大健身目标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附近健身房地图 &amp; 健身心得社区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18288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高德地图 LBS 服务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109728" cy="10972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731520" y="148132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集成高德地图 JS SDK，8家分店标注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938528"/>
            <a:ext cx="109728" cy="10972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731520" y="186537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左侧列表与右侧地图联动交互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22576"/>
            <a:ext cx="109728" cy="10972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731520" y="224942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展示分店详细地址和联系电话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706624"/>
            <a:ext cx="109728" cy="109728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5" name="Text 13"/>
          <p:cNvSpPr/>
          <p:nvPr/>
        </p:nvSpPr>
        <p:spPr>
          <a:xfrm>
            <a:off x="731520" y="26334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一键跳转至高德地图进行导航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0515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66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健身心得社区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1554480"/>
            <a:ext cx="109728" cy="109728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8" name="Text 16"/>
          <p:cNvSpPr/>
          <p:nvPr/>
        </p:nvSpPr>
        <p:spPr>
          <a:xfrm>
            <a:off x="5074920" y="148132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类似小红书的暖色系卡片流布局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938528"/>
            <a:ext cx="109728" cy="109728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20" name="Text 18"/>
          <p:cNvSpPr/>
          <p:nvPr/>
        </p:nvSpPr>
        <p:spPr>
          <a:xfrm>
            <a:off x="5074920" y="186537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支持富文本编辑 + 封面图上传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322576"/>
            <a:ext cx="109728" cy="109728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22" name="Text 20"/>
          <p:cNvSpPr/>
          <p:nvPr/>
        </p:nvSpPr>
        <p:spPr>
          <a:xfrm>
            <a:off x="5074920" y="224942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按增肌/减脂/塑形等分类筛选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706624"/>
            <a:ext cx="109728" cy="109728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24" name="Text 22"/>
          <p:cNvSpPr/>
          <p:nvPr/>
        </p:nvSpPr>
        <p:spPr>
          <a:xfrm>
            <a:off x="5074920" y="26334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点赞、收藏、评论互动功能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383280"/>
            <a:ext cx="8138160" cy="14630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352044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31520" y="40690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兰州市分店标注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全方位覆盖健身房运营场景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88920" y="352044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0A5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发布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2788920" y="40690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心得发布与分享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全方位覆盖健身房运营场景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52044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评论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4846320" y="40690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会员互动交流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全方位覆盖健身房运营场景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352044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366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导出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6903720" y="40690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计划打印保存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全方位覆盖健身房运营场景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18288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测试环境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914400" cy="5943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508760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JDK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764792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554480" y="1508760"/>
            <a:ext cx="914400" cy="5943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1508760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MySQL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1764792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06040" y="1508760"/>
            <a:ext cx="914400" cy="5943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06040" y="1508760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Node.js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1764792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12+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0" y="1508760"/>
            <a:ext cx="914400" cy="5943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1508760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浏览器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1764792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Chrome / Edge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23774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测试方案与结果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2834640"/>
            <a:ext cx="1920240" cy="10972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2834640"/>
            <a:ext cx="192024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3" name="Text 21"/>
          <p:cNvSpPr/>
          <p:nvPr/>
        </p:nvSpPr>
        <p:spPr>
          <a:xfrm>
            <a:off x="502920" y="297180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02920" y="347472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核心功能覆盖率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24328" y="2834640"/>
            <a:ext cx="1920240" cy="10972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24328" y="2834640"/>
            <a:ext cx="1920240" cy="4572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27" name="Text 25"/>
          <p:cNvSpPr/>
          <p:nvPr/>
        </p:nvSpPr>
        <p:spPr>
          <a:xfrm>
            <a:off x="2624328" y="297180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50+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624328" y="347472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测试用例数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45736" y="2834640"/>
            <a:ext cx="1920240" cy="10972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45736" y="2834640"/>
            <a:ext cx="192024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1" name="Text 29"/>
          <p:cNvSpPr/>
          <p:nvPr/>
        </p:nvSpPr>
        <p:spPr>
          <a:xfrm>
            <a:off x="4745736" y="297180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全部通过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745736" y="347472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测试结果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67144" y="2834640"/>
            <a:ext cx="1920240" cy="10972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67144" y="2834640"/>
            <a:ext cx="1920240" cy="45720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35" name="Text 33"/>
          <p:cNvSpPr/>
          <p:nvPr/>
        </p:nvSpPr>
        <p:spPr>
          <a:xfrm>
            <a:off x="6867144" y="297180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366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稳定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867144" y="347472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系统运行状态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4206240"/>
            <a:ext cx="109728" cy="109728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38" name="Text 36"/>
          <p:cNvSpPr/>
          <p:nvPr/>
        </p:nvSpPr>
        <p:spPr>
          <a:xfrm>
            <a:off x="731520" y="413308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功能测试：验证各模块增删改查功能正确性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4498848"/>
            <a:ext cx="109728" cy="109728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40" name="Text 38"/>
          <p:cNvSpPr/>
          <p:nvPr/>
        </p:nvSpPr>
        <p:spPr>
          <a:xfrm>
            <a:off x="731520" y="4425696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性能测试：模拟多用户并发访问，系统响应时间 &lt; 2s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2920" y="4791456"/>
            <a:ext cx="109728" cy="109728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42" name="Text 40"/>
          <p:cNvSpPr/>
          <p:nvPr/>
        </p:nvSpPr>
        <p:spPr>
          <a:xfrm>
            <a:off x="731520" y="47183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界面测试：检查不同分辨率下的布局适配与交互一致性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502920" y="22860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系统演示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777240"/>
            <a:ext cx="18288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502920" y="10058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A3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现场演示环节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365760" cy="36576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02920" y="16002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5544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会员登录与办卡申请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3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展示注册登录流程及会员卡自助申请操作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240280"/>
            <a:ext cx="365760" cy="36576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502920" y="22402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19456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员工审核会员卡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468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3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展示员工后台审核办卡申请的完整流程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80360"/>
            <a:ext cx="365760" cy="36576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502920" y="288036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8346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AI教练问答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10896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3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现场演示AI健身教练的智能问答效果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520440"/>
            <a:ext cx="365760" cy="36576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1" name="Text 19"/>
          <p:cNvSpPr/>
          <p:nvPr/>
        </p:nvSpPr>
        <p:spPr>
          <a:xfrm>
            <a:off x="502920" y="3520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4747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AI健身计划生成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74904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3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输入身体数据，演示7天计划自动生成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160520"/>
            <a:ext cx="365760" cy="36576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5" name="Text 23"/>
          <p:cNvSpPr/>
          <p:nvPr/>
        </p:nvSpPr>
        <p:spPr>
          <a:xfrm>
            <a:off x="502920" y="41605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411480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附近健身房地图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43891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3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展示地图标注、列表联动和一键导航功能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572000"/>
            <a:ext cx="5486400" cy="320040"/>
          </a:xfrm>
          <a:prstGeom prst="rect">
            <a:avLst/>
          </a:prstGeom>
          <a:solidFill>
            <a:srgbClr val="2563EB">
              <a:alpha val="2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640080" y="4572000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提示：建议提前录制演示视频，答辩时直接播放，避免现场操作失误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18288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主要成果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109728" cy="10972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731520" y="14813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实现健身房管理全流程数字化，有效替代传统纸质办公模式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109728" cy="10972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1" name="Text 9"/>
          <p:cNvSpPr/>
          <p:nvPr/>
        </p:nvSpPr>
        <p:spPr>
          <a:xfrm>
            <a:off x="731520" y="19385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引入AI教练和智谱AI健身计划生成，提升用户体验与服务智能化水平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109728" cy="10972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731520" y="23957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构建健身心得社区，增强会员之间的互动与用户粘性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109728" cy="10972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731520" y="28529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集成高德地图LBS服务，为会员提供便捷的地理位置服务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109728" cy="10972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731520" y="33101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采用B/S架构，免客户端安装，浏览器即可访问，部署便捷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不足与展望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1508760"/>
            <a:ext cx="4023360" cy="56692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508760"/>
            <a:ext cx="45720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1" name="Text 19"/>
          <p:cNvSpPr/>
          <p:nvPr/>
        </p:nvSpPr>
        <p:spPr>
          <a:xfrm>
            <a:off x="5074920" y="152704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移动端开发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1773936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开发APP或小程序，提升移动端使用体验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194560"/>
            <a:ext cx="4023360" cy="56692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194560"/>
            <a:ext cx="45720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5" name="Text 23"/>
          <p:cNvSpPr/>
          <p:nvPr/>
        </p:nvSpPr>
        <p:spPr>
          <a:xfrm>
            <a:off x="5074920" y="221284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功能扩展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2459736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引入动作识别、饮食推荐等更多AI能力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880360"/>
            <a:ext cx="4023360" cy="56692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880360"/>
            <a:ext cx="45720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9" name="Text 27"/>
          <p:cNvSpPr/>
          <p:nvPr/>
        </p:nvSpPr>
        <p:spPr>
          <a:xfrm>
            <a:off x="5074920" y="289864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第三方集成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3145536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接入支付系统、IoT设备等第三方服务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566160"/>
            <a:ext cx="4023360" cy="56692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566160"/>
            <a:ext cx="45720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3" name="Text 31"/>
          <p:cNvSpPr/>
          <p:nvPr/>
        </p:nvSpPr>
        <p:spPr>
          <a:xfrm>
            <a:off x="5074920" y="358444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数据分析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3831336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增加数据看板，提供会员画像和运营分析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1188720"/>
            <a:ext cx="13716" cy="3383280"/>
          </a:xfrm>
          <a:prstGeom prst="rect">
            <a:avLst/>
          </a:prstGeom>
          <a:solidFill>
            <a:srgbClr val="DBEAFE"/>
          </a:solid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Shape 2"/>
          <p:cNvSpPr/>
          <p:nvPr/>
        </p:nvSpPr>
        <p:spPr>
          <a:xfrm>
            <a:off x="3291840" y="731520"/>
            <a:ext cx="2560320" cy="256032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3291840" y="731520"/>
            <a:ext cx="256032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</a:t>
            </a:r>
            <a:endParaRPr lang="en-US" sz="4800" dirty="0"/>
          </a:p>
          <a:p>
            <a:pPr marL="0" indent="0" algn="ctr">
              <a:lnSpc>
                <a:spcPct val="8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&amp;</a:t>
            </a:r>
            <a:endParaRPr lang="en-US" sz="4800" dirty="0"/>
          </a:p>
          <a:p>
            <a:pPr marL="0" indent="0" algn="ctr">
              <a:lnSpc>
                <a:spcPct val="8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4114800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A3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请各位老师批评指正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4572000"/>
            <a:ext cx="1828800" cy="22860"/>
          </a:xfrm>
          <a:prstGeom prst="rect">
            <a:avLst/>
          </a:prstGeom>
          <a:solidFill>
            <a:srgbClr val="2563EB"/>
          </a:solid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2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3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4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5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6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7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8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9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10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11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12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13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14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15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16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17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18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19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20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21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22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23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24.xml><?xml version="1.0" encoding="utf-8"?>
<p:tagLst xmlns:p="http://schemas.openxmlformats.org/presentationml/2006/main">
  <p:tag name="KSO_WM_DIAGRAM_VIRTUALLY_FRAME" val="{&quot;height&quot;:280.8,&quot;left&quot;:39.6,&quot;top&quot;:86.4,&quot;width&quot;:648}"/>
</p:tagLst>
</file>

<file path=ppt/tags/tag25.xml><?xml version="1.0" encoding="utf-8"?>
<p:tagLst xmlns:p="http://schemas.openxmlformats.org/presentationml/2006/main">
  <p:tag name="KSO_WM_DIAGRAM_VIRTUALLY_FRAME" val="{&quot;height&quot;:259.2,&quot;left&quot;:39.6,&quot;top&quot;:86.4,&quot;width&quot;:644.4}"/>
</p:tagLst>
</file>

<file path=ppt/tags/tag26.xml><?xml version="1.0" encoding="utf-8"?>
<p:tagLst xmlns:p="http://schemas.openxmlformats.org/presentationml/2006/main">
  <p:tag name="KSO_WM_DIAGRAM_VIRTUALLY_FRAME" val="{&quot;height&quot;:259.2,&quot;left&quot;:39.6,&quot;top&quot;:86.4,&quot;width&quot;:644.4}"/>
</p:tagLst>
</file>

<file path=ppt/tags/tag27.xml><?xml version="1.0" encoding="utf-8"?>
<p:tagLst xmlns:p="http://schemas.openxmlformats.org/presentationml/2006/main">
  <p:tag name="KSO_WM_DIAGRAM_VIRTUALLY_FRAME" val="{&quot;height&quot;:259.2,&quot;left&quot;:39.6,&quot;top&quot;:86.4,&quot;width&quot;:644.4}"/>
</p:tagLst>
</file>

<file path=ppt/tags/tag28.xml><?xml version="1.0" encoding="utf-8"?>
<p:tagLst xmlns:p="http://schemas.openxmlformats.org/presentationml/2006/main">
  <p:tag name="KSO_WM_DIAGRAM_VIRTUALLY_FRAME" val="{&quot;height&quot;:259.2,&quot;left&quot;:39.6,&quot;top&quot;:86.4,&quot;width&quot;:644.4}"/>
</p:tagLst>
</file>

<file path=ppt/tags/tag29.xml><?xml version="1.0" encoding="utf-8"?>
<p:tagLst xmlns:p="http://schemas.openxmlformats.org/presentationml/2006/main">
  <p:tag name="KSO_WM_DIAGRAM_VIRTUALLY_FRAME" val="{&quot;height&quot;:259.2,&quot;left&quot;:39.6,&quot;top&quot;:86.4,&quot;width&quot;:644.4}"/>
</p:tagLst>
</file>

<file path=ppt/tags/tag30.xml><?xml version="1.0" encoding="utf-8"?>
<p:tagLst xmlns:p="http://schemas.openxmlformats.org/presentationml/2006/main">
  <p:tag name="KSO_WM_DIAGRAM_VIRTUALLY_FRAME" val="{&quot;height&quot;:259.2,&quot;left&quot;:39.6,&quot;top&quot;:86.4,&quot;width&quot;:644.4}"/>
</p:tagLst>
</file>

<file path=ppt/tags/tag31.xml><?xml version="1.0" encoding="utf-8"?>
<p:tagLst xmlns:p="http://schemas.openxmlformats.org/presentationml/2006/main">
  <p:tag name="KSO_WM_DIAGRAM_VIRTUALLY_FRAME" val="{&quot;height&quot;:259.2,&quot;left&quot;:39.6,&quot;top&quot;:86.4,&quot;width&quot;:644.4}"/>
</p:tagLst>
</file>

<file path=ppt/tags/tag32.xml><?xml version="1.0" encoding="utf-8"?>
<p:tagLst xmlns:p="http://schemas.openxmlformats.org/presentationml/2006/main">
  <p:tag name="KSO_WM_DIAGRAM_VIRTUALLY_FRAME" val="{&quot;height&quot;:259.2,&quot;left&quot;:39.6,&quot;top&quot;:86.4,&quot;width&quot;:644.4}"/>
</p:tagLst>
</file>

<file path=ppt/tags/tag33.xml><?xml version="1.0" encoding="utf-8"?>
<p:tagLst xmlns:p="http://schemas.openxmlformats.org/presentationml/2006/main">
  <p:tag name="KSO_WM_DIAGRAM_VIRTUALLY_FRAME" val="{&quot;height&quot;:259.2,&quot;left&quot;:39.6,&quot;top&quot;:86.4,&quot;width&quot;:644.4}"/>
</p:tagLst>
</file>

<file path=ppt/tags/tag34.xml><?xml version="1.0" encoding="utf-8"?>
<p:tagLst xmlns:p="http://schemas.openxmlformats.org/presentationml/2006/main">
  <p:tag name="KSO_WM_DIAGRAM_VIRTUALLY_FRAME" val="{&quot;height&quot;:259.2,&quot;left&quot;:39.6,&quot;top&quot;:86.4,&quot;width&quot;:644.4}"/>
</p:tagLst>
</file>

<file path=ppt/tags/tag35.xml><?xml version="1.0" encoding="utf-8"?>
<p:tagLst xmlns:p="http://schemas.openxmlformats.org/presentationml/2006/main">
  <p:tag name="KSO_WM_DIAGRAM_VIRTUALLY_FRAME" val="{&quot;height&quot;:259.2,&quot;left&quot;:39.6,&quot;top&quot;:86.4,&quot;width&quot;:644.4}"/>
</p:tagLst>
</file>

<file path=ppt/tags/tag36.xml><?xml version="1.0" encoding="utf-8"?>
<p:tagLst xmlns:p="http://schemas.openxmlformats.org/presentationml/2006/main">
  <p:tag name="KSO_WM_DIAGRAM_VIRTUALLY_FRAME" val="{&quot;height&quot;:259.2,&quot;left&quot;:39.6,&quot;top&quot;:86.4,&quot;width&quot;:644.4}"/>
</p:tagLst>
</file>

<file path=ppt/tags/tag37.xml><?xml version="1.0" encoding="utf-8"?>
<p:tagLst xmlns:p="http://schemas.openxmlformats.org/presentationml/2006/main">
  <p:tag name="KSO_WM_DIAGRAM_VIRTUALLY_FRAME" val="{&quot;height&quot;:259.2,&quot;left&quot;:39.6,&quot;top&quot;:86.4,&quot;width&quot;:644.4}"/>
</p:tagLst>
</file>

<file path=ppt/tags/tag38.xml><?xml version="1.0" encoding="utf-8"?>
<p:tagLst xmlns:p="http://schemas.openxmlformats.org/presentationml/2006/main">
  <p:tag name="KSO_WM_DIAGRAM_VIRTUALLY_FRAME" val="{&quot;height&quot;:259.2,&quot;left&quot;:39.6,&quot;top&quot;:86.4,&quot;width&quot;:644.4}"/>
</p:tagLst>
</file>

<file path=ppt/tags/tag39.xml><?xml version="1.0" encoding="utf-8"?>
<p:tagLst xmlns:p="http://schemas.openxmlformats.org/presentationml/2006/main">
  <p:tag name="KSO_WM_DIAGRAM_VIRTUALLY_FRAME" val="{&quot;height&quot;:259.2,&quot;left&quot;:39.6,&quot;top&quot;:86.4,&quot;width&quot;:644.4}"/>
</p:tagLst>
</file>

<file path=ppt/tags/tag40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41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42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43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44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45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46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47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48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49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50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51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52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53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54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55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56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57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58.xml><?xml version="1.0" encoding="utf-8"?>
<p:tagLst xmlns:p="http://schemas.openxmlformats.org/presentationml/2006/main">
  <p:tag name="KSO_WM_DIAGRAM_VIRTUALLY_FRAME" val="{&quot;height&quot;:219.6,&quot;left&quot;:39.6,&quot;top&quot;:117.35999999999999,&quot;width&quot;:338.4}"/>
</p:tagLst>
</file>

<file path=ppt/tags/tag59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60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61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62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63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64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65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66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67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68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69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70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71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72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73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74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75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ags/tag76.xml><?xml version="1.0" encoding="utf-8"?>
<p:tagLst xmlns:p="http://schemas.openxmlformats.org/presentationml/2006/main">
  <p:tag name="KSO_WM_DIAGRAM_VIRTUALLY_FRAME" val="{&quot;height&quot;:298.8,&quot;left&quot;:39.6,&quot;top&quot;:82.8,&quot;width&quot;:640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3311</Words>
  <Application>WPS 演示</Application>
  <PresentationFormat>On-screen Show (16:9)</PresentationFormat>
  <Paragraphs>627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基于Spring Boot的健身房管理系统</dc:title>
  <dc:creator>毕业答辩</dc:creator>
  <dc:subject>PptxGenJS Presentation</dc:subject>
  <cp:lastModifiedBy>鸽屿.</cp:lastModifiedBy>
  <cp:revision>5</cp:revision>
  <dcterms:created xsi:type="dcterms:W3CDTF">2026-06-04T14:58:00Z</dcterms:created>
  <dcterms:modified xsi:type="dcterms:W3CDTF">2026-06-06T13:42:15Z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E0CA0E6359A44D69A822F23C33C80E7B_12</vt:lpwstr>
  </property>
</Properties>
</file>